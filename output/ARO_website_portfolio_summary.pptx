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· 개요" id="{2a0aedb3-6262-c47e-e550-3386f6793abd}">
          <p14:sldIdLst>
            <p14:sldId id="256"/>
            <p14:sldId id="257"/>
          </p14:sldIdLst>
        </p14:section>
        <p14:section name="기획 · 구조" id="{6cea8f1a-a24c-49a8-22d8-0d8d070de8e7}">
          <p14:sldIdLst>
            <p14:sldId id="258"/>
            <p14:sldId id="259"/>
            <p14:sldId id="260"/>
          </p14:sldIdLst>
        </p14:section>
        <p14:section name="주요 기능" id="{008bfb92-2f42-3209-2d88-d13153a93286}">
          <p14:sldIdLst>
            <p14:sldId id="261"/>
            <p14:sldId id="262"/>
            <p14:sldId id="263"/>
            <p14:sldId id="264"/>
          </p14:sldIdLst>
        </p14:section>
        <p14:section name="문의 서버" id="{c6c5d2e3-0939-b724-f388-99645b545bfe}">
          <p14:sldIdLst>
            <p14:sldId id="265"/>
            <p14:sldId id="266"/>
          </p14:sldIdLst>
        </p14:section>
        <p14:section name="원칙 · 결정" id="{44f72c24-2496-8ace-bf5e-b8004ac5dde6}">
          <p14:sldIdLst>
            <p14:sldId id="267"/>
            <p14:sldId id="268"/>
          </p14:sldIdLst>
        </p14:section>
        <p14:section name="검증 · 회고" id="{fccd0a17-0fbc-59b1-c03a-3792c4da3675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 케이터링 웹사이트 포트폴리오. 메뉴·갤러리 수치는 화면에 넣은 콘텐츠 항목 수이며 실제 판매 상품 수나 행사 실적이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O_LIGHT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0" y="47960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ARO Catering &amp; Events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spc="200" kern="0" dirty="0">
                <a:solidFill>
                  <a:srgbClr val="7D838F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2B2D30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B6F7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O_COVER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image" Target="../media/image-5-8.jp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6B6F76"/>
                </a:solidFill>
              </a:rPr>
              <a:t>PORTFOLIO · 2026.10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CATERING BRAND WEBSITE</a:t>
            </a:r>
            <a:endParaRPr lang="en-US" sz="800" dirty="0"/>
          </a:p>
        </p:txBody>
      </p:sp>
      <p:sp>
        <p:nvSpPr>
          <p:cNvPr id="5" name="cover-title"/>
          <p:cNvSpPr txBox="1"/>
          <p:nvPr/>
        </p:nvSpPr>
        <p:spPr>
          <a:xfrm>
            <a:off x="457200" y="135331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B2D30"/>
                </a:solidFill>
              </a:rPr>
              <a:t>보고, 고르고,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B2D30"/>
                </a:solidFill>
                <a:highlight>
                  <a:srgbClr val="FEE500"/>
                </a:highlight>
              </a:rPr>
              <a:t>바로 문의하는 사이트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</a:rPr>
              <a:t>사진으로 메뉴와 행사 분위기를 보고,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</a:rPr>
              <a:t>견적 문의까지 한 번에 이어지는 케이터링 브랜드 웹사이트입니다.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40233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ARO 메인 화면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914400"/>
            <a:ext cx="3931920" cy="2423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8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 페이지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CC1"/>
                </a:solidFill>
              </a:rPr>
              <a:t>브랜드 · 메뉴 · 갤러리 · 문의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23160" y="4069080"/>
            <a:ext cx="0" cy="685800"/>
          </a:xfrm>
          <a:prstGeom prst="line">
            <a:avLst/>
          </a:prstGeom>
          <a:noFill/>
          <a:ln w="9525">
            <a:solidFill>
              <a:srgbClr val="45484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0604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13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 메뉴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CC1"/>
                </a:solidFill>
              </a:rPr>
              <a:t>4가지 필터로 탐색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0" y="4069080"/>
            <a:ext cx="0" cy="685800"/>
          </a:xfrm>
          <a:prstGeom prst="line">
            <a:avLst/>
          </a:prstGeom>
          <a:noFill/>
          <a:ln w="9525">
            <a:solidFill>
              <a:srgbClr val="45484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5488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E500"/>
                </a:solidFill>
              </a:rPr>
              <a:t>3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 건/분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CC1"/>
                </a:solidFill>
              </a:rPr>
              <a:t>IP당 문의 제한 · 스팸 방지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3977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7B8B9"/>
                </a:solidFill>
              </a:rPr>
              <a:t>React 19</a:t>
            </a:r>
            <a:endParaRPr lang="en-US" sz="9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7B8B9"/>
                </a:solidFill>
              </a:rPr>
              <a:t>Cloudflare Workers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CONTENTS &amp; OVERVIEW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목차와 프로젝트 개요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문제 정의부터 화면 기능, 문의 서버, 검증과 회고까지 순서대로 정리했습니다.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48463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72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03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기획 배경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84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04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기술 스택 · 배포 구조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31343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957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05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페이지 구성 · 사용자 흐름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2491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072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06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홈 · 브랜드 첫인상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13639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2186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07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메뉴 필터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54787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30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08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갤러리 · 서비스 · 절차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95935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0416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09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모바일 대응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37083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17520" y="1572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10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카카오톡 문의 구조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17520" y="190195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17520" y="1984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11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파이프라인 · 보호 장치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017520" y="231343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17520" y="23957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12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콘텐츠 표기 원칙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17520" y="272491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17520" y="28072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13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기술적 의사결정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17520" y="313639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17520" y="32186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14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검증 · 실행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17520" y="354787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17520" y="3630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838F"/>
                </a:solidFill>
              </a:rPr>
              <a:t>15  </a:t>
            </a:r>
            <a:pPr indent="0" marL="0">
              <a:buNone/>
            </a:pPr>
            <a:r>
              <a:rPr lang="en-US" sz="1050" dirty="0">
                <a:solidFill>
                  <a:srgbClr val="2B2D30"/>
                </a:solidFill>
              </a:rPr>
              <a:t>회고 · 향후 계획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017520" y="3959352"/>
            <a:ext cx="2148840" cy="0"/>
          </a:xfrm>
          <a:prstGeom prst="line">
            <a:avLst/>
          </a:prstGeom>
          <a:noFill/>
          <a:ln w="6350">
            <a:solidFill>
              <a:srgbClr val="DCD7CE"/>
            </a:solidFill>
            <a:prstDash val="solid"/>
          </a:ln>
        </p:spPr>
      </p:sp>
      <p:sp>
        <p:nvSpPr>
          <p:cNvPr id="32" name="card"/>
          <p:cNvSpPr/>
          <p:nvPr/>
        </p:nvSpPr>
        <p:spPr>
          <a:xfrm>
            <a:off x="5532120" y="1417320"/>
            <a:ext cx="3154680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87568" y="1508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목표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687568" y="17099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D30"/>
                </a:solidFill>
              </a:rPr>
              <a:t>서비스·메뉴·분위기를 보고 문의하게 하고, 운영자는 문의를 카카오톡으로 바로 받기</a:t>
            </a:r>
            <a:endParaRPr lang="en-US" sz="950" dirty="0"/>
          </a:p>
        </p:txBody>
      </p:sp>
      <p:sp>
        <p:nvSpPr>
          <p:cNvPr id="35" name="card"/>
          <p:cNvSpPr/>
          <p:nvPr/>
        </p:nvSpPr>
        <p:spPr>
          <a:xfrm>
            <a:off x="5532120" y="2231136"/>
            <a:ext cx="3154680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87568" y="2322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기획 대상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687568" y="252374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D30"/>
                </a:solidFill>
              </a:rPr>
              <a:t>예비 부부 · 베뉴 운영자 · 행사 담당자 (사용자 조사 결과는 아님)</a:t>
            </a:r>
            <a:endParaRPr lang="en-US" sz="950" dirty="0"/>
          </a:p>
        </p:txBody>
      </p:sp>
      <p:sp>
        <p:nvSpPr>
          <p:cNvPr id="38" name="card"/>
          <p:cNvSpPr/>
          <p:nvPr/>
        </p:nvSpPr>
        <p:spPr>
          <a:xfrm>
            <a:off x="5532120" y="3044952"/>
            <a:ext cx="3154680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87568" y="3136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기간 · 개발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687568" y="33375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D30"/>
                </a:solidFill>
              </a:rPr>
              <a:t>2026.09 – 10 · hyeran712 1인 (기획·디자인·프론트·서버·배포)</a:t>
            </a:r>
            <a:endParaRPr lang="en-US" sz="950" dirty="0"/>
          </a:p>
        </p:txBody>
      </p:sp>
      <p:sp>
        <p:nvSpPr>
          <p:cNvPr id="41" name="card"/>
          <p:cNvSpPr/>
          <p:nvPr/>
        </p:nvSpPr>
        <p:spPr>
          <a:xfrm>
            <a:off x="5532120" y="3858768"/>
            <a:ext cx="3154680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87568" y="3950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실행 환경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5687568" y="415137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D30"/>
                </a:solidFill>
              </a:rPr>
              <a:t>GitHub Pages · Cloudflare Workers · 로컬 localhost:3000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BACKGROUND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왜 만들었나 — 보기 어렵고, 묻기 어렵고, 받기 어렵다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케이터링 상담 흐름에서 세 가지 문제를 정의하고, 각각에 대응하는 화면과 기능을 설계했습니다.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7D838F"/>
          </a:solidFill>
          <a:ln w="12700">
            <a:solidFill>
              <a:srgbClr val="7D83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D30"/>
                </a:solidFill>
              </a:rPr>
              <a:t>음식과 분위기를 미리 보기 어렵다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자주 겪는 상황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30"/>
                </a:solidFill>
              </a:rPr>
              <a:t>맛과 테이블을 보기 전엔 판단이 어려움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30"/>
                </a:solidFill>
              </a:rPr>
              <a:t>말로 된 메뉴 설명만으로는 부족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749040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EFEBE4"/>
          </a:solidFill>
          <a:ln w="12700">
            <a:solidFill>
              <a:srgbClr val="EFEB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813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E9A80"/>
                </a:solidFill>
              </a:rPr>
              <a:t>SOLUTION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023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2D30"/>
                </a:solidFill>
              </a:rPr>
              <a:t>사진 중심 메뉴 · 갤러리, 카테고리 필터와 재료 설명</a:t>
            </a:r>
            <a:endParaRPr lang="en-US" sz="950" dirty="0"/>
          </a:p>
        </p:txBody>
      </p:sp>
      <p:sp>
        <p:nvSpPr>
          <p:cNvPr id="14" name="card"/>
          <p:cNvSpPr/>
          <p:nvPr/>
        </p:nvSpPr>
        <p:spPr>
          <a:xfrm>
            <a:off x="3246120" y="14173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600200"/>
            <a:ext cx="384048" cy="384048"/>
          </a:xfrm>
          <a:prstGeom prst="ellipse">
            <a:avLst/>
          </a:prstGeom>
          <a:solidFill>
            <a:srgbClr val="7D838F"/>
          </a:solidFill>
          <a:ln w="12700">
            <a:solidFill>
              <a:srgbClr val="7D83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D30"/>
                </a:solidFill>
              </a:rPr>
              <a:t>상담 전에 궁금한 점이 많다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697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자주 겪는 상황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30"/>
                </a:solidFill>
              </a:rPr>
              <a:t>최소 인원 · 시식 · 진행 순서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30"/>
                </a:solidFill>
              </a:rPr>
              <a:t>문의 전에 기본 정보를 먼저 알고 싶음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3749040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EFEBE4"/>
          </a:solidFill>
          <a:ln w="12700">
            <a:solidFill>
              <a:srgbClr val="EFEB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3813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E9A80"/>
                </a:solidFill>
              </a:rPr>
              <a:t>SOLUTION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4023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2D30"/>
                </a:solidFill>
              </a:rPr>
              <a:t>FAQ 7개 · 진행 절차 4단계 · 서비스 유형 안내</a:t>
            </a:r>
            <a:endParaRPr lang="en-US" sz="950" dirty="0"/>
          </a:p>
        </p:txBody>
      </p:sp>
      <p:sp>
        <p:nvSpPr>
          <p:cNvPr id="23" name="card"/>
          <p:cNvSpPr/>
          <p:nvPr/>
        </p:nvSpPr>
        <p:spPr>
          <a:xfrm>
            <a:off x="6035040" y="14173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600200"/>
            <a:ext cx="384048" cy="384048"/>
          </a:xfrm>
          <a:prstGeom prst="ellipse">
            <a:avLst/>
          </a:prstGeom>
          <a:solidFill>
            <a:srgbClr val="7D838F"/>
          </a:solidFill>
          <a:ln w="12700">
            <a:solidFill>
              <a:srgbClr val="7D83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D30"/>
                </a:solidFill>
              </a:rPr>
              <a:t>문의가 와도 바로 알기 어렵다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2697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자주 겪는 상황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30"/>
                </a:solidFill>
              </a:rPr>
              <a:t>GitHub Pages는 폼을 받아 줄 서버가 없음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30"/>
                </a:solidFill>
              </a:rPr>
              <a:t>이메일은 확인이 늦어짐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3749040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EFEBE4"/>
          </a:solidFill>
          <a:ln w="12700">
            <a:solidFill>
              <a:srgbClr val="EFEB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0" y="3813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E9A80"/>
                </a:solidFill>
              </a:rPr>
              <a:t>SOLUTION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4023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2D30"/>
                </a:solidFill>
              </a:rPr>
              <a:t>Cloudflare Worker + 카카오톡 알림, 키는 서버에만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TECH STACK &amp; ARCHITECTURE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기술 스택과 배포 구조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화면은 GitHub Pages에, 문의 처리와 카카오 키는 Cloudflare Worker에 두었습니다.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457200" y="1389888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FRONTEND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30"/>
                </a:solidFill>
              </a:rPr>
              <a:t>React 19 · Router 7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CRA · CSS · 8개 페이지</a:t>
            </a:r>
            <a:endParaRPr lang="en-US" sz="900" dirty="0"/>
          </a:p>
        </p:txBody>
      </p:sp>
      <p:sp>
        <p:nvSpPr>
          <p:cNvPr id="9" name="card"/>
          <p:cNvSpPr/>
          <p:nvPr/>
        </p:nvSpPr>
        <p:spPr>
          <a:xfrm>
            <a:off x="2532888" y="1389888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문의 서버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30"/>
                </a:solidFill>
              </a:rPr>
              <a:t>Cloudflare Workers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KV · Rate Limiting</a:t>
            </a:r>
            <a:endParaRPr lang="en-US" sz="900" dirty="0"/>
          </a:p>
        </p:txBody>
      </p:sp>
      <p:sp>
        <p:nvSpPr>
          <p:cNvPr id="13" name="card"/>
          <p:cNvSpPr/>
          <p:nvPr/>
        </p:nvSpPr>
        <p:spPr>
          <a:xfrm>
            <a:off x="4608576" y="1389888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45736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API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745736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30"/>
                </a:solidFill>
              </a:rPr>
              <a:t>Kakao REST API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OAuth 갱신 · 나에게 보내기</a:t>
            </a:r>
            <a:endParaRPr lang="en-US" sz="900" dirty="0"/>
          </a:p>
        </p:txBody>
      </p:sp>
      <p:sp>
        <p:nvSpPr>
          <p:cNvPr id="17" name="card"/>
          <p:cNvSpPr/>
          <p:nvPr/>
        </p:nvSpPr>
        <p:spPr>
          <a:xfrm>
            <a:off x="6684264" y="1389888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21424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DEPLOY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821424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30"/>
                </a:solidFill>
              </a:rPr>
              <a:t>GitHub Pages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21424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gh-pages · Netlify 빌드 지원</a:t>
            </a:r>
            <a:endParaRPr lang="en-US" sz="900" dirty="0"/>
          </a:p>
        </p:txBody>
      </p:sp>
      <p:sp>
        <p:nvSpPr>
          <p:cNvPr id="21" name="card"/>
          <p:cNvSpPr/>
          <p:nvPr/>
        </p:nvSpPr>
        <p:spPr>
          <a:xfrm>
            <a:off x="457200" y="2514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6426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30"/>
                </a:solidFill>
              </a:rPr>
              <a:t>브라우저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9352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6"/>
                </a:solidFill>
              </a:rPr>
              <a:t>방문자 · 문의 작성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47672" y="2843784"/>
            <a:ext cx="182880" cy="164592"/>
          </a:xfrm>
          <a:prstGeom prst="rightArrow">
            <a:avLst/>
          </a:prstGeom>
          <a:solidFill>
            <a:srgbClr val="7D838F"/>
          </a:solidFill>
          <a:ln w="12700">
            <a:solidFill>
              <a:srgbClr val="7D838F"/>
            </a:solidFill>
            <a:prstDash val="solid"/>
          </a:ln>
        </p:spPr>
      </p:sp>
      <p:sp>
        <p:nvSpPr>
          <p:cNvPr id="25" name="card"/>
          <p:cNvSpPr/>
          <p:nvPr/>
        </p:nvSpPr>
        <p:spPr>
          <a:xfrm>
            <a:off x="2157984" y="2514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49424" y="26426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30"/>
                </a:solidFill>
              </a:rPr>
              <a:t>GitHub Pages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249424" y="29352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6"/>
                </a:solidFill>
              </a:rPr>
              <a:t>React 정적 파일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48456" y="2843784"/>
            <a:ext cx="182880" cy="164592"/>
          </a:xfrm>
          <a:prstGeom prst="rightArrow">
            <a:avLst/>
          </a:prstGeom>
          <a:solidFill>
            <a:srgbClr val="7D838F"/>
          </a:solidFill>
          <a:ln w="12700">
            <a:solidFill>
              <a:srgbClr val="7D838F"/>
            </a:solidFill>
            <a:prstDash val="solid"/>
          </a:ln>
        </p:spPr>
      </p:sp>
      <p:sp>
        <p:nvSpPr>
          <p:cNvPr id="29" name="card"/>
          <p:cNvSpPr/>
          <p:nvPr/>
        </p:nvSpPr>
        <p:spPr>
          <a:xfrm>
            <a:off x="3858768" y="2514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E2023"/>
          </a:solidFill>
          <a:ln w="9525">
            <a:solidFill>
              <a:srgbClr val="1E20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3950208" y="26426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Cloudflare Worker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950208" y="29352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8B9"/>
                </a:solidFill>
              </a:rPr>
              <a:t>/inquiry · 검증 · 제한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49240" y="2843784"/>
            <a:ext cx="182880" cy="164592"/>
          </a:xfrm>
          <a:prstGeom prst="rightArrow">
            <a:avLst/>
          </a:prstGeom>
          <a:solidFill>
            <a:srgbClr val="7D838F"/>
          </a:solidFill>
          <a:ln w="12700">
            <a:solidFill>
              <a:srgbClr val="7D838F"/>
            </a:solidFill>
            <a:prstDash val="solid"/>
          </a:ln>
        </p:spPr>
      </p:sp>
      <p:sp>
        <p:nvSpPr>
          <p:cNvPr id="33" name="card"/>
          <p:cNvSpPr/>
          <p:nvPr/>
        </p:nvSpPr>
        <p:spPr>
          <a:xfrm>
            <a:off x="5559552" y="2514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50992" y="26426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30"/>
                </a:solidFill>
              </a:rPr>
              <a:t>Kakao API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50992" y="29352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6"/>
                </a:solidFill>
              </a:rPr>
              <a:t>토큰 갱신 · 메시지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050024" y="2843784"/>
            <a:ext cx="182880" cy="164592"/>
          </a:xfrm>
          <a:prstGeom prst="rightArrow">
            <a:avLst/>
          </a:prstGeom>
          <a:solidFill>
            <a:srgbClr val="7D838F"/>
          </a:solidFill>
          <a:ln w="12700">
            <a:solidFill>
              <a:srgbClr val="7D838F"/>
            </a:solidFill>
            <a:prstDash val="solid"/>
          </a:ln>
        </p:spPr>
      </p:sp>
      <p:sp>
        <p:nvSpPr>
          <p:cNvPr id="37" name="card"/>
          <p:cNvSpPr/>
          <p:nvPr/>
        </p:nvSpPr>
        <p:spPr>
          <a:xfrm>
            <a:off x="7260336" y="2514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51776" y="26426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30"/>
                </a:solidFill>
              </a:rPr>
              <a:t>관리자 카카오톡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351776" y="29352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6"/>
                </a:solidFill>
              </a:rPr>
              <a:t>나와의 채팅</a:t>
            </a:r>
            <a:endParaRPr lang="en-US" sz="850" dirty="0"/>
          </a:p>
        </p:txBody>
      </p:sp>
      <p:sp>
        <p:nvSpPr>
          <p:cNvPr id="40" name="card"/>
          <p:cNvSpPr/>
          <p:nvPr/>
        </p:nvSpPr>
        <p:spPr>
          <a:xfrm>
            <a:off x="2880360" y="36118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FEBE4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71800" y="3675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D30"/>
                </a:solidFill>
              </a:rPr>
              <a:t>Workers KV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2971800" y="39044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refresh · access token 보관</a:t>
            </a:r>
            <a:endParaRPr lang="en-US" sz="800" dirty="0"/>
          </a:p>
        </p:txBody>
      </p:sp>
      <p:sp>
        <p:nvSpPr>
          <p:cNvPr id="43" name="card"/>
          <p:cNvSpPr/>
          <p:nvPr/>
        </p:nvSpPr>
        <p:spPr>
          <a:xfrm>
            <a:off x="4389120" y="36118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FEBE4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80560" y="3675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D30"/>
                </a:solidFill>
              </a:rPr>
              <a:t>Rate Limiter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480560" y="39044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같은 IP 분당 3건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90288" y="3337560"/>
            <a:ext cx="0" cy="274320"/>
          </a:xfrm>
          <a:prstGeom prst="line">
            <a:avLst/>
          </a:prstGeom>
          <a:noFill/>
          <a:ln w="12700">
            <a:solidFill>
              <a:srgbClr val="7D838F"/>
            </a:solidFill>
            <a:prstDash val="dash"/>
          </a:ln>
        </p:spPr>
      </p:sp>
      <p:sp>
        <p:nvSpPr>
          <p:cNvPr id="47" name="card"/>
          <p:cNvSpPr/>
          <p:nvPr/>
        </p:nvSpPr>
        <p:spPr>
          <a:xfrm>
            <a:off x="6035040" y="3611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72200" y="3685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공개 / 비공개 분리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617220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30"/>
                </a:solidFill>
              </a:rPr>
              <a:t>React 빌드에는 공개 문의 주소만, 카카오 키와 시크릿은 Worker 비밀 설정에, 토큰은 KV에만 둡니다.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SITE MAP &amp; FLOW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페이지 구성과 사용자 흐름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브랜드 확인 → 서비스 탐색 → 메뉴·갤러리 → FAQ·절차 → 견적 문의 → 카카오톡 알림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D30"/>
                </a:solidFill>
              </a:rPr>
              <a:t>브랜드 확인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13716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838F"/>
                </a:solidFill>
              </a:rPr>
              <a:t>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56232" y="137160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56232" y="13716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D30"/>
                </a:solidFill>
              </a:rPr>
              <a:t>서비스 탐색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13716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838F"/>
                </a:solidFill>
              </a:rPr>
              <a:t>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55264" y="137160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55264" y="13716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D30"/>
                </a:solidFill>
              </a:rPr>
              <a:t>메뉴 · 갤러리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13716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838F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54296" y="137160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54296" y="13716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D30"/>
                </a:solidFill>
              </a:rPr>
              <a:t>FAQ · 절차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870448" y="13716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838F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53328" y="137160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1E2023"/>
          </a:solidFill>
          <a:ln w="9525">
            <a:solidFill>
              <a:srgbClr val="1E20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53328" y="13716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견적 문의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13716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838F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52360" y="137160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FEE500"/>
          </a:solidFill>
          <a:ln w="9525">
            <a:solidFill>
              <a:srgbClr val="FEE5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52360" y="13716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D30"/>
                </a:solidFill>
              </a:rPr>
              <a:t>카카오톡 알림</a:t>
            </a:r>
            <a:endParaRPr lang="en-US" sz="950" dirty="0"/>
          </a:p>
        </p:txBody>
      </p:sp>
      <p:pic>
        <p:nvPicPr>
          <p:cNvPr id="22" name="Image 0" descr="HOME 페이지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965960"/>
            <a:ext cx="1892808" cy="8686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57200" y="1965960"/>
            <a:ext cx="1892808" cy="868680"/>
          </a:xfrm>
          <a:prstGeom prst="rect">
            <a:avLst/>
          </a:prstGeom>
          <a:ln w="9525">
            <a:solidFill>
              <a:srgbClr val="DCD7C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288036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D30"/>
                </a:solidFill>
              </a:rPr>
              <a:t>HOME  </a:t>
            </a:r>
            <a:pPr indent="0" marL="0">
              <a:buNone/>
            </a:pPr>
            <a:r>
              <a:rPr lang="en-US" sz="850" dirty="0">
                <a:solidFill>
                  <a:srgbClr val="6B6F76"/>
                </a:solidFill>
              </a:rPr>
              <a:t>브랜드 · 서비스 · FAQ</a:t>
            </a:r>
            <a:endParaRPr lang="en-US" sz="850" dirty="0"/>
          </a:p>
        </p:txBody>
      </p:sp>
      <p:pic>
        <p:nvPicPr>
          <p:cNvPr id="25" name="Image 1" descr="ABOUT 페이지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32888" y="1965960"/>
            <a:ext cx="1892808" cy="86868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2532888" y="1965960"/>
            <a:ext cx="1892808" cy="868680"/>
          </a:xfrm>
          <a:prstGeom prst="rect">
            <a:avLst/>
          </a:prstGeom>
          <a:ln w="9525">
            <a:solidFill>
              <a:srgbClr val="DCD7C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2532888" y="288036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D30"/>
                </a:solidFill>
              </a:rPr>
              <a:t>ABOUT  </a:t>
            </a:r>
            <a:pPr indent="0" marL="0">
              <a:buNone/>
            </a:pPr>
            <a:r>
              <a:rPr lang="en-US" sz="850" dirty="0">
                <a:solidFill>
                  <a:srgbClr val="6B6F76"/>
                </a:solidFill>
              </a:rPr>
              <a:t>미션 · 다섯 가지 태도</a:t>
            </a:r>
            <a:endParaRPr lang="en-US" sz="850" dirty="0"/>
          </a:p>
        </p:txBody>
      </p:sp>
      <p:pic>
        <p:nvPicPr>
          <p:cNvPr id="28" name="Image 2" descr="SERVICES 페이지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08576" y="1965960"/>
            <a:ext cx="1892808" cy="86868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608576" y="1965960"/>
            <a:ext cx="1892808" cy="868680"/>
          </a:xfrm>
          <a:prstGeom prst="rect">
            <a:avLst/>
          </a:prstGeom>
          <a:ln w="9525">
            <a:solidFill>
              <a:srgbClr val="DCD7CE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608576" y="288036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D30"/>
                </a:solidFill>
              </a:rPr>
              <a:t>SERVICES  </a:t>
            </a:r>
            <a:pPr indent="0" marL="0">
              <a:buNone/>
            </a:pPr>
            <a:r>
              <a:rPr lang="en-US" sz="850" dirty="0">
                <a:solidFill>
                  <a:srgbClr val="6B6F76"/>
                </a:solidFill>
              </a:rPr>
              <a:t>행사 유형별 케이터링</a:t>
            </a:r>
            <a:endParaRPr lang="en-US" sz="850" dirty="0"/>
          </a:p>
        </p:txBody>
      </p:sp>
      <p:pic>
        <p:nvPicPr>
          <p:cNvPr id="31" name="Image 3" descr="MENU 페이지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84264" y="1965960"/>
            <a:ext cx="1892808" cy="86868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6684264" y="1965960"/>
            <a:ext cx="1892808" cy="868680"/>
          </a:xfrm>
          <a:prstGeom prst="rect">
            <a:avLst/>
          </a:prstGeom>
          <a:ln w="9525">
            <a:solidFill>
              <a:srgbClr val="DCD7CE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684264" y="288036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D30"/>
                </a:solidFill>
              </a:rPr>
              <a:t>MENU  </a:t>
            </a:r>
            <a:pPr indent="0" marL="0">
              <a:buNone/>
            </a:pPr>
            <a:r>
              <a:rPr lang="en-US" sz="850" dirty="0">
                <a:solidFill>
                  <a:srgbClr val="6B6F76"/>
                </a:solidFill>
              </a:rPr>
              <a:t>13개 · 3개 분류 필터</a:t>
            </a:r>
            <a:endParaRPr lang="en-US" sz="850" dirty="0"/>
          </a:p>
        </p:txBody>
      </p:sp>
      <p:pic>
        <p:nvPicPr>
          <p:cNvPr id="34" name="Image 4" descr="GALLERY 페이지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200" y="3337560"/>
            <a:ext cx="1892808" cy="86868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457200" y="3337560"/>
            <a:ext cx="1892808" cy="868680"/>
          </a:xfrm>
          <a:prstGeom prst="rect">
            <a:avLst/>
          </a:prstGeom>
          <a:ln w="9525">
            <a:solidFill>
              <a:srgbClr val="DCD7CE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457200" y="425196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D30"/>
                </a:solidFill>
              </a:rPr>
              <a:t>GALLERY  </a:t>
            </a:r>
            <a:pPr indent="0" marL="0">
              <a:buNone/>
            </a:pPr>
            <a:r>
              <a:rPr lang="en-US" sz="850" dirty="0">
                <a:solidFill>
                  <a:srgbClr val="6B6F76"/>
                </a:solidFill>
              </a:rPr>
              <a:t>14개 · 5개 유형 필터</a:t>
            </a:r>
            <a:endParaRPr lang="en-US" sz="850" dirty="0"/>
          </a:p>
        </p:txBody>
      </p:sp>
      <p:pic>
        <p:nvPicPr>
          <p:cNvPr id="37" name="Image 5" descr="PROCESS 페이지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532888" y="3337560"/>
            <a:ext cx="1892808" cy="86868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2532888" y="3337560"/>
            <a:ext cx="1892808" cy="868680"/>
          </a:xfrm>
          <a:prstGeom prst="rect">
            <a:avLst/>
          </a:prstGeom>
          <a:ln w="9525">
            <a:solidFill>
              <a:srgbClr val="DCD7CE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2532888" y="425196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D30"/>
                </a:solidFill>
              </a:rPr>
              <a:t>PROCESS  </a:t>
            </a:r>
            <a:pPr indent="0" marL="0">
              <a:buNone/>
            </a:pPr>
            <a:r>
              <a:rPr lang="en-US" sz="850" dirty="0">
                <a:solidFill>
                  <a:srgbClr val="6B6F76"/>
                </a:solidFill>
              </a:rPr>
              <a:t>진행 절차 4단계</a:t>
            </a:r>
            <a:endParaRPr lang="en-US" sz="850" dirty="0"/>
          </a:p>
        </p:txBody>
      </p:sp>
      <p:pic>
        <p:nvPicPr>
          <p:cNvPr id="40" name="Image 6" descr="JOURNAL 페이지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08576" y="3337560"/>
            <a:ext cx="1892808" cy="86868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4608576" y="3337560"/>
            <a:ext cx="1892808" cy="868680"/>
          </a:xfrm>
          <a:prstGeom prst="rect">
            <a:avLst/>
          </a:prstGeom>
          <a:ln w="9525">
            <a:solidFill>
              <a:srgbClr val="DCD7CE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4608576" y="425196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D30"/>
                </a:solidFill>
              </a:rPr>
              <a:t>JOURNAL  </a:t>
            </a:r>
            <a:pPr indent="0" marL="0">
              <a:buNone/>
            </a:pPr>
            <a:r>
              <a:rPr lang="en-US" sz="850" dirty="0">
                <a:solidFill>
                  <a:srgbClr val="6B6F76"/>
                </a:solidFill>
              </a:rPr>
              <a:t>브랜드 이야기</a:t>
            </a:r>
            <a:endParaRPr lang="en-US" sz="850" dirty="0"/>
          </a:p>
        </p:txBody>
      </p:sp>
      <p:pic>
        <p:nvPicPr>
          <p:cNvPr id="43" name="Image 7" descr="CONTACT 페이지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684264" y="3337560"/>
            <a:ext cx="1892808" cy="868680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6684264" y="3337560"/>
            <a:ext cx="1892808" cy="868680"/>
          </a:xfrm>
          <a:prstGeom prst="rect">
            <a:avLst/>
          </a:prstGeom>
          <a:ln w="9525">
            <a:solidFill>
              <a:srgbClr val="DCD7CE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6684264" y="425196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D30"/>
                </a:solidFill>
              </a:rPr>
              <a:t>CONTACT  </a:t>
            </a:r>
            <a:pPr indent="0" marL="0">
              <a:buNone/>
            </a:pPr>
            <a:r>
              <a:rPr lang="en-US" sz="850" dirty="0">
                <a:solidFill>
                  <a:srgbClr val="6B6F76"/>
                </a:solidFill>
              </a:rPr>
              <a:t>문의 폼 → 카카오톡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FEATURE 01 · HOME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홈 — 브랜드 첫인상에서 문의까지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첫 화면에서 분위기를 보여 주고, 서비스 · FAQ · 문의 버튼으로 자연스럽게 이어집니다.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20624" y="1380744"/>
            <a:ext cx="4919472" cy="30998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홈 첫 화면 · 대표 사진과 브랜드 메시지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4846320" cy="30266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51713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홈 첫 화면 · 대표 사진과 브랜드 메시지</a:t>
            </a:r>
            <a:endParaRPr lang="en-US" sz="800" dirty="0"/>
          </a:p>
        </p:txBody>
      </p:sp>
      <p:sp>
        <p:nvSpPr>
          <p:cNvPr id="8" name="card"/>
          <p:cNvSpPr/>
          <p:nvPr/>
        </p:nvSpPr>
        <p:spPr>
          <a:xfrm>
            <a:off x="5577840" y="1417320"/>
            <a:ext cx="31089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0" y="14904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30"/>
                </a:solidFill>
              </a:rPr>
              <a:t>브랜드 메시지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1719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“모든 특별한 자리를 위한 케이터링 aro”와 대표 테이블 사진</a:t>
            </a:r>
            <a:endParaRPr lang="en-US" sz="900" dirty="0"/>
          </a:p>
        </p:txBody>
      </p:sp>
      <p:sp>
        <p:nvSpPr>
          <p:cNvPr id="11" name="card"/>
          <p:cNvSpPr/>
          <p:nvPr/>
        </p:nvSpPr>
        <p:spPr>
          <a:xfrm>
            <a:off x="5577840" y="2203704"/>
            <a:ext cx="31089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15000" y="22768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30"/>
                </a:solidFill>
              </a:rPr>
              <a:t>행사 유형 띠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25054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Weddings · Corporate · Brand Events · Private Dining이 흐르며 소개</a:t>
            </a:r>
            <a:endParaRPr lang="en-US" sz="900" dirty="0"/>
          </a:p>
        </p:txBody>
      </p:sp>
      <p:sp>
        <p:nvSpPr>
          <p:cNvPr id="14" name="card"/>
          <p:cNvSpPr/>
          <p:nvPr/>
        </p:nvSpPr>
        <p:spPr>
          <a:xfrm>
            <a:off x="5577840" y="2990088"/>
            <a:ext cx="31089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15000" y="3063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30"/>
                </a:solidFill>
              </a:rPr>
              <a:t>서비스 3종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Seasonal Ingredients · Signature Plan · Something More</a:t>
            </a:r>
            <a:endParaRPr lang="en-US" sz="900" dirty="0"/>
          </a:p>
        </p:txBody>
      </p:sp>
      <p:sp>
        <p:nvSpPr>
          <p:cNvPr id="17" name="card"/>
          <p:cNvSpPr/>
          <p:nvPr/>
        </p:nvSpPr>
        <p:spPr>
          <a:xfrm>
            <a:off x="5577840" y="3776472"/>
            <a:ext cx="31089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15000" y="3849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30"/>
                </a:solidFill>
              </a:rPr>
              <a:t>FAQ · 문의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715000" y="40782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FAQ 4개를 펼쳐 보고 “어떤 자리를 준비하시나요?”에서 문의로 이동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FEATURE 02 · MENU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메뉴 — 카테고리 필터와 재료 설명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13개 메뉴를 ALL · PLATED · PASTA · SALAD로 골라 보고, 사진에 올리면 재료 설명이 나타납니다.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[activeCategory, setActiveCategory]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useState("ALL");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filteredItems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activeCategory === "ALL"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menuItems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menuItems.filter(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(item) =&gt; item.category === activeCategory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37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src/pages/Menu.jsx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03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30"/>
                </a:solidFill>
              </a:rPr>
              <a:t>13</a:t>
            </a:r>
            <a:pPr indent="0" marL="0">
              <a:buNone/>
            </a:pPr>
            <a:r>
              <a:rPr lang="en-US" sz="1200" b="1" dirty="0">
                <a:solidFill>
                  <a:srgbClr val="7D838F"/>
                </a:solidFill>
              </a:rPr>
              <a:t> 개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14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메뉴 콘텐츠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664208" y="3703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30"/>
                </a:solidFill>
              </a:rPr>
              <a:t>4</a:t>
            </a:r>
            <a:pPr indent="0" marL="0">
              <a:buNone/>
            </a:pPr>
            <a:r>
              <a:rPr lang="en-US" sz="1200" b="1" dirty="0">
                <a:solidFill>
                  <a:srgbClr val="7D838F"/>
                </a:solidFill>
              </a:rPr>
              <a:t> 종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664208" y="4114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필터 (ALL 포함)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871216" y="3703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30"/>
                </a:solidFill>
              </a:rPr>
              <a:t>Tab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871216" y="4114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키보드로도 재료 설명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06824" y="1380744"/>
            <a:ext cx="4416552" cy="30998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메뉴 필터 · PLATED / PASTA / SALA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43400" y="1417320"/>
            <a:ext cx="4343400" cy="302666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343400" y="4517136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메뉴 필터 · PLATED / PASTA / SALAD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FEATURE 03 · GALLERY · SERVICE · PROCESS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갤러리 · 서비스 · 진행 절차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행사 사진을 유형별로 거르고, 상담부터 당일까지의 흐름을 문의 전에 보여 줍니다.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20624" y="1380744"/>
            <a:ext cx="4736592" cy="30998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갤러리 14개 · WEDDING · OUTDOOR · CORPORATE · BRAND EVENT · PRIVAT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4663440" cy="30266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51713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갤러리 14개 · WEDDING · OUTDOOR · CORPORATE · BRAND EVENT · PRIVATE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417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PROCESS · 4 STEPS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0" y="1737360"/>
            <a:ext cx="347472" cy="347472"/>
          </a:xfrm>
          <a:prstGeom prst="ellipse">
            <a:avLst/>
          </a:prstGeom>
          <a:solidFill>
            <a:srgbClr val="7D838F"/>
          </a:solidFill>
          <a:ln w="12700">
            <a:solidFill>
              <a:srgbClr val="7D83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16916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30"/>
                </a:solidFill>
              </a:rPr>
              <a:t>베뉴 인터뷰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1938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공간의 결과 운영 방식을 듣는 시간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2423160"/>
            <a:ext cx="347472" cy="347472"/>
          </a:xfrm>
          <a:prstGeom prst="ellipse">
            <a:avLst/>
          </a:prstGeom>
          <a:solidFill>
            <a:srgbClr val="7D838F"/>
          </a:solidFill>
          <a:ln w="12700">
            <a:solidFill>
              <a:srgbClr val="7D83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23774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30"/>
                </a:solidFill>
              </a:rPr>
              <a:t>부부 의사 · 특이사항 확인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베뉴의 틀 안에서 고른 선택 파악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3108960"/>
            <a:ext cx="347472" cy="347472"/>
          </a:xfrm>
          <a:prstGeom prst="ellipse">
            <a:avLst/>
          </a:prstGeom>
          <a:solidFill>
            <a:srgbClr val="7D838F"/>
          </a:solidFill>
          <a:ln w="12700">
            <a:solidFill>
              <a:srgbClr val="7D838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30632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30"/>
                </a:solidFill>
              </a:rPr>
              <a:t>음식으로 만들기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0" y="3310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메뉴 장르 · 세팅 · 온도 결정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0" y="3794760"/>
            <a:ext cx="347472" cy="347472"/>
          </a:xfrm>
          <a:prstGeom prst="ellipse">
            <a:avLst/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37490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30"/>
                </a:solidFill>
              </a:rPr>
              <a:t>새김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0" y="3995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다섯 가지 태도로 그날을 마무리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FEATURE 04 · MOBILE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모바일 대응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햄버거 버튼으로 메뉴를 열고 닫으며, 상태를 화면 읽기 도구에도 알립니다.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3776" y="1316736"/>
            <a:ext cx="1481328" cy="3081528"/>
          </a:xfrm>
          <a:prstGeom prst="roundRect">
            <a:avLst>
              <a:gd name="adj" fmla="val 8642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모바일 홈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1371600" cy="2971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434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홈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93976" y="1316736"/>
            <a:ext cx="1481328" cy="3081528"/>
          </a:xfrm>
          <a:prstGeom prst="roundRect">
            <a:avLst>
              <a:gd name="adj" fmla="val 8642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모바일 메뉴 열림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48840" y="1371600"/>
            <a:ext cx="1371600" cy="2971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48840" y="4434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메뉴 열림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694176" y="1316736"/>
            <a:ext cx="1481328" cy="3081528"/>
          </a:xfrm>
          <a:prstGeom prst="roundRect">
            <a:avLst>
              <a:gd name="adj" fmla="val 8642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모바일 문의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49040" y="1371600"/>
            <a:ext cx="1371600" cy="29718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49040" y="4434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문의</a:t>
            </a:r>
            <a:endParaRPr lang="en-US" sz="900" dirty="0"/>
          </a:p>
        </p:txBody>
      </p:sp>
      <p:sp>
        <p:nvSpPr>
          <p:cNvPr id="14" name="card"/>
          <p:cNvSpPr/>
          <p:nvPr/>
        </p:nvSpPr>
        <p:spPr>
          <a:xfrm>
            <a:off x="5440680" y="137160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596128" y="1481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HEADER.JSX</a:t>
            </a:r>
            <a:endParaRPr lang="en-US" sz="800" dirty="0"/>
          </a:p>
        </p:txBody>
      </p:sp>
      <p:sp>
        <p:nvSpPr>
          <p:cNvPr id="16" name="Text 11"/>
          <p:cNvSpPr txBox="1"/>
          <p:nvPr/>
        </p:nvSpPr>
        <p:spPr>
          <a:xfrm>
            <a:off x="5596128" y="175564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D30"/>
                </a:solidFill>
              </a:rPr>
              <a:t>menuOpen 상태로 메뉴 열기 · 닫기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D30"/>
                </a:solidFill>
              </a:rPr>
              <a:t>aria-expanded · aria-controls로 상태 전달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D30"/>
                </a:solidFill>
              </a:rPr>
              <a:t>Escape 키로 메뉴 닫기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D30"/>
                </a:solidFill>
              </a:rPr>
              <a:t>버튼 라벨이 “메뉴 열기 / 닫기”로 바뀜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577840" y="3154680"/>
            <a:ext cx="2971800" cy="1097280"/>
          </a:xfrm>
          <a:prstGeom prst="roundRect">
            <a:avLst>
              <a:gd name="adj" fmla="val 5000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715000" y="32461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aria-expanded={menuOpen}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aria-controls="mobile-navigation"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onClick={() =&gt; setMenuOpen(o =&gt; !o)}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KAKAO INQUIRY · ARCHITECTURE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카카오톡 문의 알림 작동 구조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홈페이지 문의 접수부터 관리자 카카오톡 수신까지</a:t>
            </a:r>
            <a:endParaRPr lang="en-US" sz="1100" dirty="0"/>
          </a:p>
        </p:txBody>
      </p:sp>
      <p:pic>
        <p:nvPicPr>
          <p:cNvPr id="5" name="Image 0" descr="카카오톡 문의 알림 작동 구조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383" y="1325880"/>
            <a:ext cx="6255235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INQUIRY PIPELINE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검증하고, 제한하고, 확인된 것만 접수 완료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Worker는 여섯 단계를 거쳐 문의를 카카오톡으로 보내고, 실패하면 고객에게 다시 시도하도록 안내합니다.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508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STEP 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3736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30"/>
                </a:solidFill>
              </a:rPr>
              <a:t>출처 확인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0574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Origin이 다르면 403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47088" y="141732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56816" y="1508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STEP 2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956816" y="173736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30"/>
                </a:solidFill>
              </a:rPr>
              <a:t>형식 검증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956816" y="20574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JSON · 5,000자 · 필드 길이 · 유형 4종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36976" y="141732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46704" y="1508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STEP 3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346704" y="173736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30"/>
                </a:solidFill>
              </a:rPr>
              <a:t>사용량 제한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46704" y="20574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같은 IP 분당 3건, 넘으면 429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141732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36592" y="1508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STEP 4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736592" y="173736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30"/>
                </a:solidFill>
              </a:rPr>
              <a:t>토큰 확보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736592" y="20574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KV 토큰, 만료 1분 전 자동 갱신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16752" y="141732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1E2023"/>
          </a:solidFill>
          <a:ln w="9525">
            <a:solidFill>
              <a:srgbClr val="1E20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0" y="1508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EE500"/>
                </a:solidFill>
              </a:rPr>
              <a:t>STEP 5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173736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카카오 전송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20574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BD0"/>
                </a:solidFill>
              </a:rPr>
              <a:t>나에게 보내기 · result_code 0 확인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06640" y="141732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16368" y="1508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STEP 6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516368" y="173736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30"/>
                </a:solidFill>
              </a:rPr>
              <a:t>응답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16368" y="20574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200 접수 완료 / 502 재시도 안내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30906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30"/>
                </a:solidFill>
              </a:rPr>
              <a:t>3</a:t>
            </a:r>
            <a:pPr indent="0" marL="0">
              <a:buNone/>
            </a:pPr>
            <a:r>
              <a:rPr lang="en-US" sz="1200" b="1" dirty="0">
                <a:solidFill>
                  <a:srgbClr val="7D838F"/>
                </a:solidFill>
              </a:rPr>
              <a:t> 건/분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35021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같은 IP 문의 제한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32888" y="301752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70048" y="30906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30"/>
                </a:solidFill>
              </a:rPr>
              <a:t>8</a:t>
            </a:r>
            <a:pPr indent="0" marL="0">
              <a:buNone/>
            </a:pPr>
            <a:r>
              <a:rPr lang="en-US" sz="1200" b="1" dirty="0">
                <a:solidFill>
                  <a:srgbClr val="7D838F"/>
                </a:solidFill>
              </a:rPr>
              <a:t> 초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2670048" y="35021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카카오 요청 시간 제한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08576" y="301752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45736" y="30906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30"/>
                </a:solidFill>
              </a:rPr>
              <a:t>0</a:t>
            </a:r>
            <a:pPr indent="0" marL="0">
              <a:buNone/>
            </a:pPr>
            <a:r>
              <a:rPr lang="en-US" sz="1200" b="1" dirty="0">
                <a:solidFill>
                  <a:srgbClr val="7D838F"/>
                </a:solidFill>
              </a:rPr>
              <a:t> 건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4745736" y="35021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저장하는 문의 본문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84264" y="301752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21424" y="30906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D30"/>
                </a:solidFill>
              </a:rPr>
              <a:t>403 · 413 · 415 · 429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거절 응답 코드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023"/>
          </a:solidFill>
          <a:ln w="9525">
            <a:solidFill>
              <a:srgbClr val="1E202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E500"/>
                </a:solidFill>
              </a:rPr>
              <a:t>키 관리  </a:t>
            </a:r>
            <a:pPr indent="0" marL="0">
              <a:buNone/>
            </a:pPr>
            <a:r>
              <a:rPr lang="en-US" sz="1000" dirty="0">
                <a:solidFill>
                  <a:srgbClr val="E6E3DC"/>
                </a:solidFill>
              </a:rPr>
              <a:t>REST API 키 · 시크릿은 Worker 비밀 설정, 토큰은 Workers KV에만. 문의 내용과 토큰은 로그에 남기지 않습니다.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CONTENT PRINCIPLES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콘텐츠 표기 원칙 — 사실보다 앞서 나가지 않기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실제 운영 전 단계의 브랜드 사이트라, 화면 문구에 같은 기준을 적용했습니다.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원칙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할 수 있는 말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할 수 없는 말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30"/>
                          </a:solidFill>
                        </a:rPr>
                        <a:t>콘텐츠 수는 실적이 아님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6B3A"/>
                          </a:solidFill>
                        </a:rPr>
                        <a:t>✓  메뉴 13개를 4가지 필터로 볼 수 있다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3B30"/>
                          </a:solidFill>
                        </a:rPr>
                        <a:t>✕  13가지 상품을 판매 중이다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30"/>
                          </a:solidFill>
                        </a:rPr>
                        <a:t>접수 완료는 전송 확인 후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6B3A"/>
                          </a:solidFill>
                        </a:rPr>
                        <a:t>✓  카카오톡 전송이 확인되면 접수 완료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3B30"/>
                          </a:solidFill>
                        </a:rPr>
                        <a:t>✕  버튼을 누르면 바로 접수 완료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30"/>
                          </a:solidFill>
                        </a:rPr>
                        <a:t>준비 중인 서비스는 준비 중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6B3A"/>
                          </a:solidFill>
                        </a:rPr>
                        <a:t>✓  야외 · 대외 행사는 순차 준비 중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3B30"/>
                          </a:solidFill>
                        </a:rPr>
                        <a:t>✕  모든 행사를 지금 바로 진행한다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30"/>
                          </a:solidFill>
                        </a:rPr>
                        <a:t>사진은 분위기 연출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6B3A"/>
                          </a:solidFill>
                        </a:rPr>
                        <a:t>✓  행사 분위기를 보여 주는 이미지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3B30"/>
                          </a:solidFill>
                        </a:rPr>
                        <a:t>✕  ARO가 진행한 실제 행사 사진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30"/>
                          </a:solidFill>
                        </a:rPr>
                        <a:t>문의는 알림으로만 전달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6B3A"/>
                          </a:solidFill>
                        </a:rPr>
                        <a:t>✓  문의 내용은 운영자 카카오톡으로 전달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3B30"/>
                          </a:solidFill>
                        </a:rPr>
                        <a:t>✕  문의 내역을 사이트에서 관리한다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TECHNICAL DECISIONS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기술적 의사결정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정적 사이트 · 소규모 운영 · 개인정보 부담이라는 조건에서 대안을 비교했습니다.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920240"/>
                <a:gridCol w="160020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채택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검토 대안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이유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D30"/>
                          </a:solidFill>
                        </a:rPr>
                        <a:t>문의 서버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D838F"/>
                          </a:solidFill>
                        </a:rPr>
                        <a:t>Cloudflare Workers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폼 서비스 · 자체 서버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정적 사이트 유지, 키를 브라우저에 두지 않음, 무료 사용량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D30"/>
                          </a:solidFill>
                        </a:rPr>
                        <a:t>알림 채널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D838F"/>
                          </a:solidFill>
                        </a:rPr>
                        <a:t>카카오톡 나에게 보내기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이메일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운영자가 가장 자주 보는 채널, 추가 앱 불필요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D30"/>
                          </a:solidFill>
                        </a:rPr>
                        <a:t>토큰 관리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D838F"/>
                          </a:solidFill>
                        </a:rPr>
                        <a:t>KV + 자동 갱신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액세스 토큰 고정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만료돼도 재배포 없이 계속 동작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D30"/>
                          </a:solidFill>
                        </a:rPr>
                        <a:t>남용 방지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D838F"/>
                          </a:solidFill>
                        </a:rPr>
                        <a:t>Origin + IP 분당 3건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처음부터 캡차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소규모에 맞는 최소 장치, 스팸 시 Turnstile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D30"/>
                          </a:solidFill>
                        </a:rPr>
                        <a:t>접수 완료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D838F"/>
                          </a:solidFill>
                        </a:rPr>
                        <a:t>전송 성공 후 표시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요청 즉시 표시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접수됐다고 믿었는데 못 받는 상황 방지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D30"/>
                          </a:solidFill>
                        </a:rPr>
                        <a:t>라우팅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D838F"/>
                          </a:solidFill>
                        </a:rPr>
                        <a:t>BrowserRouter + 404.html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HashRouter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깔끔한 주소 + Pages 새로고침 404 해결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D30"/>
                          </a:solidFill>
                        </a:rPr>
                        <a:t>문의 저장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D838F"/>
                          </a:solidFill>
                        </a:rPr>
                        <a:t>저장하지 않음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DB 저장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D30"/>
                          </a:solidFill>
                        </a:rPr>
                        <a:t>개인정보 보관 부담 최소화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VERIFICATION &amp; RUN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검증 결과와 실행 방법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2026.10.30 기준으로 빌드 · 화면 · 실제 문의 수신을 확인했습니다.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480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검사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30"/>
                          </a:solidFill>
                        </a:rPr>
                        <a:t>프로덕션 빌드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30"/>
                          </a:solidFill>
                        </a:rPr>
                        <a:t>통과 · Compiled successfully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30"/>
                          </a:solidFill>
                        </a:rPr>
                        <a:t>8개 경로 화면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30"/>
                          </a:solidFill>
                        </a:rPr>
                        <a:t>로컬 빌드에서 모두 표시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30"/>
                          </a:solidFill>
                        </a:rPr>
                        <a:t>모바일 메뉴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30"/>
                          </a:solidFill>
                        </a:rPr>
                        <a:t>390px에서 열기 · 닫기 확인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30"/>
                          </a:solidFill>
                        </a:rPr>
                        <a:t>문의 → 카카오톡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30"/>
                          </a:solidFill>
                        </a:rPr>
                        <a:t>실제 전송 · 나와의 채팅 수신 확인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30"/>
                          </a:solidFill>
                        </a:rPr>
                        <a:t>의존성 설치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30"/>
                          </a:solidFill>
                        </a:rPr>
                        <a:t>npm ci 실패(lock 불일치) → npm install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023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검증하지 않은 범위: 동시 다수 요청, 토큰 완전 만료 후 재연결, 접근성 전수 점검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166360" y="1417320"/>
            <a:ext cx="3520440" cy="3017520"/>
          </a:xfrm>
          <a:prstGeom prst="roundRect">
            <a:avLst>
              <a:gd name="adj" fmla="val 1818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03520" y="150876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사이트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        # localhost:3000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deploy   # GitHub Pages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문의 서버 (server/kakao)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wrangler 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wrangler secret put KAKAO_CLIENT_ID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wrangler deploy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838F"/>
                </a:solidFill>
              </a:rPr>
              <a:t>RETROSPECTIVE &amp; ROADMAP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30"/>
                </a:solidFill>
              </a:rPr>
              <a:t>회고와 향후 계획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</a:rPr>
              <a:t>정적 사이트에 서버 기능을 더한 구조는 유지하고, 운영에 필요한 기록과 보호 장치를 더할 계획입니다.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KEEP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0"/>
                </a:solidFill>
              </a:rPr>
              <a:t>잘한 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D30"/>
                </a:solidFill>
              </a:rPr>
              <a:t>정적 사이트에 Worker로 실제 문의 접수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D30"/>
                </a:solidFill>
              </a:rPr>
              <a:t>키는 서버 비밀 설정 · KV에만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D30"/>
                </a:solidFill>
              </a:rPr>
              <a:t>전송 확인 후에만 접수 완료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D30"/>
                </a:solidFill>
              </a:rPr>
              <a:t>사진 중심 브랜드 표현과 필터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D7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D838F"/>
                </a:solidFill>
              </a:rPr>
              <a:t>PROBLEM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0"/>
                </a:solidFill>
              </a:rPr>
              <a:t>아쉬운 점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2402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D30"/>
                </a:solidFill>
              </a:rPr>
              <a:t>문의 목록을 따로 저장하지 않음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D30"/>
                </a:solidFill>
              </a:rPr>
              <a:t>장기간 미사용 시 카카오 재연결 필요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D30"/>
                </a:solidFill>
              </a:rPr>
              <a:t>방문 · 문의 전환 측정 자료 없음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D30"/>
                </a:solidFill>
              </a:rPr>
              <a:t>package-lock 불일치로 npm ci 실패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E2023"/>
          </a:solidFill>
          <a:ln w="9525">
            <a:solidFill>
              <a:srgbClr val="1E20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EE500"/>
                </a:solidFill>
              </a:rPr>
              <a:t>TRY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다음 단계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402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BDF"/>
                </a:solidFill>
              </a:rPr>
              <a:t>Turnstile 등 스팸 방지 추가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BDF"/>
                </a:solidFill>
              </a:rPr>
              <a:t>관리자 문의 목록 화면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BDF"/>
                </a:solidFill>
              </a:rPr>
              <a:t>메뉴 탐색 · 문의 성공 이벤트 측정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BDF"/>
                </a:solidFill>
              </a:rPr>
              <a:t>연락처 · 메뉴 조건 · 이미지 권한 확인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960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O Ivory">
  <a:themeElements>
    <a:clrScheme name="ARO Ivory">
      <a:dk1>
        <a:srgbClr val="2B2D30"/>
      </a:dk1>
      <a:lt1>
        <a:srgbClr val="FFFFFF"/>
      </a:lt1>
      <a:dk2>
        <a:srgbClr val="1E2023"/>
      </a:dk2>
      <a:lt2>
        <a:srgbClr val="F7F5F3"/>
      </a:lt2>
      <a:accent1>
        <a:srgbClr val="7D838F"/>
      </a:accent1>
      <a:accent2>
        <a:srgbClr val="B7B8B9"/>
      </a:accent2>
      <a:accent3>
        <a:srgbClr val="8E9A80"/>
      </a:accent3>
      <a:accent4>
        <a:srgbClr val="FEE500"/>
      </a:accent4>
      <a:accent5>
        <a:srgbClr val="C9C3B8"/>
      </a:accent5>
      <a:accent6>
        <a:srgbClr val="E9E5DE"/>
      </a:accent6>
      <a:hlink>
        <a:srgbClr val="7D838F"/>
      </a:hlink>
      <a:folHlink>
        <a:srgbClr val="5E636C"/>
      </a:folHlink>
    </a:clrScheme>
    <a:fontScheme name="ARO Ivory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 Catering &amp; Events 포트폴리오</dc:title>
  <dc:subject>PptxGenJS Presentation</dc:subject>
  <dc:creator>hyeran712</dc:creator>
  <cp:lastModifiedBy>hyeran712</cp:lastModifiedBy>
  <cp:revision>1</cp:revision>
  <dcterms:created xsi:type="dcterms:W3CDTF">2026-10-30T06:42:21Z</dcterms:created>
  <dcterms:modified xsi:type="dcterms:W3CDTF">2026-10-30T06:42:21Z</dcterms:modified>
</cp:coreProperties>
</file>